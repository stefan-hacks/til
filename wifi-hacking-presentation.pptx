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846620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6977728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58956829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340732647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3421383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8645288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75856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406210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31649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CA313-D5FA-87D1-97DE-884DD8CE4D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89664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3926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9344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7E806A-6254-F53D-975E-74F4E2D9B6D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82717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7925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35000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55F91B-10D4-8B01-F44B-BBE1D7075F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77934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60727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97617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765C55-F542-7E7C-1CCA-93E09A1A36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9620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51832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The WPA2 4-way handshake is a secure process where a device and an access point (AP) generate unique session keys, proving they know the Wi-Fi password (PMK) without ever sending it, using random numbers (nonces) and MAC addresses to create temporary Pairwise Transient Keys (PTK) for data encryption</a:t>
            </a:r>
            <a:endParaRPr/>
          </a:p>
        </p:txBody>
      </p:sp>
      <p:sp>
        <p:nvSpPr>
          <p:cNvPr id="6449254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AB5A91-6E41-8317-7B7B-A6A8B6EEE9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01726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30623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4477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C4BC86-B000-1D62-E76A-E81241B4C7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4432750" name="Title 1"/>
          <p:cNvSpPr>
            <a:spLocks noGrp="1"/>
          </p:cNvSpPr>
          <p:nvPr>
            <p:ph type="ctrTitle"/>
          </p:nvPr>
        </p:nvSpPr>
        <p:spPr bwMode="auto">
          <a:xfrm>
            <a:off x="1523999" y="1122362"/>
            <a:ext cx="9144000" cy="2387599"/>
          </a:xfrm>
        </p:spPr>
        <p:txBody>
          <a:bodyPr anchor="b"/>
          <a:lstStyle>
            <a:lvl1pPr algn="ctr">
              <a:defRPr sz="45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84434694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9" y="3602037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63563579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88014772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62231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0047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0524369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71115847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46594807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05498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796080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1069485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52617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53062376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661042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402976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6356768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8" y="1825625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5640912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6528325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30226566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351378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272316" name="Title 1"/>
          <p:cNvSpPr>
            <a:spLocks noGrp="1"/>
          </p:cNvSpPr>
          <p:nvPr>
            <p:ph type="title"/>
          </p:nvPr>
        </p:nvSpPr>
        <p:spPr bwMode="auto">
          <a:xfrm>
            <a:off x="839787" y="365125"/>
            <a:ext cx="10515600" cy="1325562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403813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9" y="1681162"/>
            <a:ext cx="5157785" cy="8239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10436398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9" y="2505074"/>
            <a:ext cx="5157785" cy="3684587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992665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2"/>
            <a:ext cx="5183187" cy="8239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38544544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7" cy="3684587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3533262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20842443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447422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14090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24288660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88242451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87909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94579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74481930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94586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987323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49746253" name="Content Placeholder 2"/>
          <p:cNvSpPr>
            <a:spLocks noGrp="1"/>
          </p:cNvSpPr>
          <p:nvPr>
            <p:ph idx="1"/>
          </p:nvPr>
        </p:nvSpPr>
        <p:spPr bwMode="auto">
          <a:xfrm>
            <a:off x="5183187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5138656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399"/>
            <a:ext cx="3932237" cy="3811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02056572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93891184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589275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6289099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292739686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7" y="987425"/>
            <a:ext cx="617220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135898021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399"/>
            <a:ext cx="3932237" cy="3811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72899414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12431727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290022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043033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1754512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72486884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8990443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861678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002526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899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9462380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198" y="365125"/>
            <a:ext cx="7734299" cy="5811838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948954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94302945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845071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16191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5490321" name="Title Placeholder 1"/>
          <p:cNvSpPr>
            <a:spLocks noGrp="1"/>
          </p:cNvSpPr>
          <p:nvPr>
            <p:ph type="title"/>
          </p:nvPr>
        </p:nvSpPr>
        <p:spPr bwMode="auto">
          <a:xfrm>
            <a:off x="838198" y="365125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3438358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198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6580272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0774716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3705943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>
        <a:lnSpc>
          <a:spcPct val="90000"/>
        </a:lnSpc>
        <a:spcBef>
          <a:spcPts val="0"/>
        </a:spcBef>
        <a:buNone/>
        <a:defRPr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>
        <a:lnSpc>
          <a:spcPct val="90000"/>
        </a:lnSpc>
        <a:spcBef>
          <a:spcPts val="749"/>
        </a:spcBef>
        <a:buFont typeface="Arial"/>
        <a:buChar char="•"/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169951" name="Title 1"/>
          <p:cNvSpPr>
            <a:spLocks noGrp="1"/>
          </p:cNvSpPr>
          <p:nvPr>
            <p:ph type="ctr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en-US" sz="60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Wireless Security Protocols: A Hacker's Perspective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152283315" name="Subtitle 2"/>
          <p:cNvSpPr>
            <a:spLocks noGrp="1"/>
          </p:cNvSpPr>
          <p:nvPr>
            <p:ph type="subTitle"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WiFi Hacking Tutorial</a:t>
            </a:r>
            <a:endParaRPr sz="24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endParaRPr sz="24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Understanding Protocols = Tactical Advantage</a:t>
            </a:r>
            <a:endParaRPr sz="24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Presented by: stefan-hacks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1787169" name="Title 1"/>
          <p:cNvSpPr>
            <a:spLocks noGrp="1"/>
          </p:cNvSpPr>
          <p:nvPr>
            <p:ph type="ctrTitle"/>
          </p:nvPr>
        </p:nvSpPr>
        <p:spPr bwMode="auto">
          <a:xfrm>
            <a:off x="1398669" y="1924467"/>
            <a:ext cx="9144000" cy="2387598"/>
          </a:xfrm>
        </p:spPr>
        <p:txBody>
          <a:bodyPr/>
          <a:lstStyle>
            <a:lvl1pPr algn="ctr">
              <a:defRPr sz="4500"/>
            </a:lvl1pPr>
          </a:lstStyle>
          <a:p>
            <a:pPr>
              <a:defRPr/>
            </a:pPr>
            <a:r>
              <a:rPr>
                <a:solidFill>
                  <a:schemeClr val="bg1"/>
                </a:solidFill>
              </a:rPr>
              <a:t>whoami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276517257" name="Subtitle 2"/>
          <p:cNvSpPr>
            <a:spLocks noGrp="1"/>
          </p:cNvSpPr>
          <p:nvPr>
            <p:ph type="subTitle" idx="1"/>
          </p:nvPr>
        </p:nvSpPr>
        <p:spPr bwMode="auto">
          <a:xfrm>
            <a:off x="1473867" y="4429917"/>
            <a:ext cx="9144000" cy="165576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>
              <a:defRPr/>
            </a:pPr>
            <a:r>
              <a:rPr lang="en-US" sz="1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$ echo “Hello World!” &gt;&gt; Hello.txt ; cat Hello.txt</a:t>
            </a:r>
            <a:endParaRPr lang="en-US" sz="18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#Former Olympic swimmer turned IT nerd | I read technical manuals of instruction in my spare time (in the terminal of #course). | Capture the Flag enthusiast | Family world-travel &amp; digital-nomad | Rock/Reggae/Metal Lover.</a:t>
            </a:r>
            <a:endParaRPr lang="en-US" sz="18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Hello_World!</a:t>
            </a:r>
            <a:endParaRPr>
              <a:solidFill>
                <a:schemeClr val="bg1"/>
              </a:solidFill>
            </a:endParaRPr>
          </a:p>
        </p:txBody>
      </p:sp>
      <p:pic>
        <p:nvPicPr>
          <p:cNvPr id="69114377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691062" y="524292"/>
            <a:ext cx="2809873" cy="28003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879940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Why Understanding Protocols Matters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640696092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5000" lnSpcReduction="5000"/>
          </a:bodyPr>
          <a:lstStyle/>
          <a:p>
            <a:pPr>
              <a:defRPr/>
            </a:pPr>
            <a:r>
              <a:rPr lang="en-US" sz="32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This Isn't Academic—It's Tactical</a:t>
            </a:r>
            <a:endParaRPr sz="32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endParaRPr sz="32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    Each protocol = Different attack surface</a:t>
            </a:r>
            <a:endParaRPr sz="32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endParaRPr sz="32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    Different vulnerability profiles</a:t>
            </a:r>
            <a:endParaRPr sz="32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endParaRPr sz="32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    Different cracking methodologies</a:t>
            </a:r>
            <a:endParaRPr sz="32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endParaRPr sz="32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    Attack strategy changes completely based on protocol</a:t>
            </a:r>
            <a:endParaRPr sz="32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endParaRPr sz="32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Knowledge Gap: Not knowing protocols = Wasting time on wrong attacks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222524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3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The Evolution Timeline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37441662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1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1999 - WEP: Easily broken in minutes</a:t>
            </a:r>
            <a:endParaRPr sz="21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1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2003 - WPA: Temporary fix, still vulnerable</a:t>
            </a:r>
            <a:endParaRPr sz="21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1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2004 - WPA2: Current standard (90% of networks)</a:t>
            </a:r>
            <a:endParaRPr sz="21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1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2018 - WPA3: New standard, limited adoption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277712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3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Share of Wi-Fi hotspots that use WPA/WPA2</a:t>
            </a:r>
            <a:endParaRPr>
              <a:solidFill>
                <a:schemeClr val="bg1"/>
              </a:solidFill>
            </a:endParaRPr>
          </a:p>
        </p:txBody>
      </p:sp>
      <p:pic>
        <p:nvPicPr>
          <p:cNvPr id="570160646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>
            <a:off x="2297077" y="1825625"/>
            <a:ext cx="7597845" cy="43513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903244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3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WPA2 - Your Main Target</a:t>
            </a:r>
            <a:r>
              <a:rPr>
                <a:solidFill>
                  <a:schemeClr val="bg1"/>
                </a:solidFill>
              </a:rPr>
              <a:t> - </a:t>
            </a:r>
            <a:r>
              <a:rPr lang="en-US" sz="33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The Current Standard (2004-Present)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196930048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60000" lnSpcReduction="8000"/>
          </a:bodyPr>
          <a:lstStyle/>
          <a:p>
            <a:pPr>
              <a:defRPr/>
            </a:pPr>
            <a:r>
              <a:rPr lang="en-US" sz="21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How it works:</a:t>
            </a:r>
            <a:endParaRPr sz="21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endParaRPr sz="21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1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    CCMP encryption with AES (strong crypto)</a:t>
            </a:r>
            <a:endParaRPr sz="21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endParaRPr sz="21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1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    4-way handshake for key establishment</a:t>
            </a:r>
            <a:endParaRPr sz="21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endParaRPr sz="21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1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    PMK derived from password via PBKDF2</a:t>
            </a:r>
            <a:endParaRPr sz="21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endParaRPr sz="21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1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Critical Vulnerabilities:</a:t>
            </a:r>
            <a:endParaRPr sz="21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endParaRPr sz="21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1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    KRACK Attack (Key Reinstallation Attack)</a:t>
            </a:r>
            <a:endParaRPr sz="21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endParaRPr sz="21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1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    Handshake capture + dictionary attacks</a:t>
            </a:r>
            <a:endParaRPr sz="21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endParaRPr sz="21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1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    WPS vulnerability (separate feature)</a:t>
            </a:r>
            <a:endParaRPr sz="21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endParaRPr sz="2100" b="0" i="0" u="none" strike="noStrike" cap="none" spc="0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1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Why This Matters: 90% of networks = WPA2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9647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>
                  <a:schemeClr val="bg1"/>
                </a:solidFill>
              </a:rPr>
              <a:t>TIME TO HACK</a:t>
            </a:r>
            <a:endParaRPr>
              <a:solidFill>
                <a:schemeClr val="bg1"/>
              </a:solidFill>
            </a:endParaRPr>
          </a:p>
        </p:txBody>
      </p:sp>
      <p:pic>
        <p:nvPicPr>
          <p:cNvPr id="265573778" name=""/>
          <p:cNvPicPr>
            <a:picLocks noChangeAspect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 rot="0">
            <a:off x="6451974" y="1148848"/>
            <a:ext cx="4351338" cy="4351338"/>
          </a:xfrm>
          <a:prstGeom prst="rect">
            <a:avLst/>
          </a:prstGeom>
        </p:spPr>
      </p:pic>
      <p:sp>
        <p:nvSpPr>
          <p:cNvPr id="500124777" name=""/>
          <p:cNvSpPr txBox="1"/>
          <p:nvPr/>
        </p:nvSpPr>
        <p:spPr bwMode="auto">
          <a:xfrm rot="0" flipH="0" flipV="0">
            <a:off x="838198" y="1854868"/>
            <a:ext cx="6359778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>
                <a:solidFill>
                  <a:schemeClr val="bg1"/>
                </a:solidFill>
              </a:rPr>
              <a:t>Hypervisor - Virtualbox</a:t>
            </a:r>
            <a:endParaRPr>
              <a:solidFill>
                <a:schemeClr val="bg1"/>
              </a:solidFill>
            </a:endParaRPr>
          </a:p>
          <a:p>
            <a:pPr>
              <a:defRPr/>
            </a:pPr>
            <a:r>
              <a:rPr>
                <a:solidFill>
                  <a:schemeClr val="bg1"/>
                </a:solidFill>
              </a:rPr>
              <a:t>Kali VM </a:t>
            </a:r>
            <a:endParaRPr>
              <a:solidFill>
                <a:schemeClr val="bg1"/>
              </a:solidFill>
            </a:endParaRPr>
          </a:p>
          <a:p>
            <a:pPr>
              <a:defRPr/>
            </a:pPr>
            <a:r>
              <a:rPr>
                <a:solidFill>
                  <a:schemeClr val="bg1"/>
                </a:solidFill>
              </a:rPr>
              <a:t>external wifi adapter - which supports monitor mode</a:t>
            </a:r>
            <a:endParaRPr>
              <a:solidFill>
                <a:schemeClr val="bg1"/>
              </a:solidFill>
            </a:endParaRPr>
          </a:p>
          <a:p>
            <a:pPr>
              <a:defRPr/>
            </a:pPr>
            <a:r>
              <a:rPr>
                <a:solidFill>
                  <a:schemeClr val="bg1"/>
                </a:solidFill>
              </a:rPr>
              <a:t>test router - TP-Link 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Blank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Office Them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ONLYOFFICE/9.2.1.43</Application>
  <PresentationFormat>On-screen Show (4:3)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modified xsi:type="dcterms:W3CDTF">2026-01-19T12:45:08Z</dcterms:modified>
</cp:coreProperties>
</file>